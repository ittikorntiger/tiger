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14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n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1005840"/>
            <a:ext cx="329184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0080"/>
            <a:ext cx="82296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A38B"/>
                </a:solidFill>
                <a:latin typeface="Sarabun"/>
              </a:rPr>
              <a:t>สรุปงานวิจัย  |  RANDOMISED CONTROLLED TRIAL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8412480" cy="21945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Sarabun"/>
              </a:rPr>
              <a:t>การออกกำลังกายเทียบกับการผ่าตัดส่องกล้องตัดหมอนรองข้อเข่าบางส่วน ในผู้ป่วยวัยกลางคนที่หมอนรองข้อเข่าฉีกขาดแบบเสื่อม: ติดตามผล 2 ปี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8412480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C9D8E4"/>
                </a:solidFill>
                <a:latin typeface="Sarabun"/>
              </a:rPr>
              <a:t>Exercise therapy versus arthroscopic partial meniscectomy for degenerative meniscal tear in middle aged patients: randomised controlled trial with two year follow-up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26280"/>
            <a:ext cx="8412480" cy="8229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9D8E4"/>
                </a:solidFill>
                <a:latin typeface="Sarabun"/>
              </a:rPr>
              <a:t>Kise NJ, Risberg MA, Stensrud S, Ranstam J, Engebretsen L, Roos EM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C9D8E4"/>
                </a:solidFill>
                <a:latin typeface="Sarabun"/>
              </a:rPr>
              <a:t>BMJ 2016;354:i3740  •  Open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78992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arabun"/>
              </a:rPr>
              <a:t>ผู้นำเสนอ: ..............................................   รหัสนักศึกษา: ..............................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201168"/>
            <a:ext cx="566928" cy="566928"/>
          </a:xfrm>
          <a:prstGeom prst="ellipse">
            <a:avLst/>
          </a:prstGeom>
          <a:solidFill>
            <a:srgbClr val="14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566928" cy="56692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arabun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09728"/>
            <a:ext cx="10515600" cy="7772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arabun"/>
              </a:rPr>
              <a:t>บทนำ และวิธีการวิจัย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6575"/>
                </a:solidFill>
                <a:latin typeface="Sarabun"/>
              </a:rPr>
              <a:t>Kise NJ, et al. BMJ 2016;354:i3740 (republished in Br J Sports Med)  |  OMEX trial NCT01002794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5577840" cy="242316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109728" cy="2423160"/>
          </a:xfrm>
          <a:prstGeom prst="rect">
            <a:avLst/>
          </a:prstGeom>
          <a:solidFill>
            <a:srgbClr val="14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98448"/>
            <a:ext cx="5212079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4A38B"/>
                </a:solidFill>
                <a:latin typeface="Sarabun"/>
              </a:rPr>
              <a:t>บทนำ (สรุป)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55648"/>
            <a:ext cx="5212079" cy="1783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B57"/>
                </a:solidFill>
                <a:latin typeface="Sarabun"/>
              </a:rPr>
              <a:t>• หมอนรองข้อเข่าฉีกขาดแบบเสื่อม (degenerative meniscal tear) พบบ่อยในวัยกลางคน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B57"/>
                </a:solidFill>
                <a:latin typeface="Sarabun"/>
              </a:rPr>
              <a:t>• การผ่าตัดส่องกล้องตัดหมอนรองบางส่วน (APM) เป็นการผ่าตัดกระดูกที่ทำบ่อยที่สุดอย่างหนึ่ง แต่หลักฐานว่าดีกว่าการไม่ผ่าตัดยังไม่ชัด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749039"/>
            <a:ext cx="5577840" cy="256032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749039"/>
            <a:ext cx="109728" cy="2560320"/>
          </a:xfrm>
          <a:prstGeom prst="rect">
            <a:avLst/>
          </a:prstGeom>
          <a:solidFill>
            <a:srgbClr val="E86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58768"/>
            <a:ext cx="5212079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86A50"/>
                </a:solidFill>
                <a:latin typeface="Sarabun"/>
              </a:rPr>
              <a:t>วัตถุประสงค์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15968"/>
            <a:ext cx="5212079" cy="192023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B57"/>
                </a:solidFill>
                <a:latin typeface="Sarabun"/>
              </a:rPr>
              <a:t>• เปรียบเทียบผลของการออกกำลังกายภายใต้การดูแล 12 สัปดาห์ กับการผ่าตัด APM ต่อผลลัพธ์ที่ผู้ป่วยรายงานเอง (KOOS) ที่ 2 ปี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B57"/>
                </a:solidFill>
                <a:latin typeface="Sarabun"/>
              </a:rPr>
              <a:t>• และเปรียบเทียบความแข็งแรงกล้ามเนื้อต้นขาที่ 3 และ 12 เดือน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5577840" cy="512064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109728" cy="512064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298448"/>
            <a:ext cx="5212079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B57"/>
                </a:solidFill>
                <a:latin typeface="Sarabun"/>
              </a:rPr>
              <a:t>วิธีการวิจัย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755648"/>
            <a:ext cx="5212079" cy="448055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B57"/>
                </a:solidFill>
                <a:latin typeface="Sarabun"/>
              </a:rPr>
              <a:t>• รูปแบบ: RCT แบบ 2 กลุ่ม, superiority trial, ประเทศนอร์เวย์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B57"/>
                </a:solidFill>
                <a:latin typeface="Sarabun"/>
              </a:rPr>
              <a:t>• ผู้เข้าร่วม: 140 คน อายุ 35–60 ปี (เฉลี่ย ~49 ปี) หมอนรองฉีกขาดแบบเสื่อมยืนยันด้วย MRI ส่วนใหญ่ไม่มีข้อเข่าเสื่อมชัดเจนในภาพเอกซเรย์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B57"/>
                </a:solidFill>
                <a:latin typeface="Sarabun"/>
              </a:rPr>
              <a:t>• สุ่มแบ่งกลุ่ม 1:1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4A38B"/>
                </a:solidFill>
                <a:latin typeface="Sarabun"/>
              </a:rPr>
              <a:t>   กลุ่มที่ 1  ออกกำลังกาย 12 สัปดาห์ (n = 70)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E86A50"/>
                </a:solidFill>
                <a:latin typeface="Sarabun"/>
              </a:rPr>
              <a:t>   กลุ่มที่ 2  ผ่าตัด APM (n = 70)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B57"/>
                </a:solidFill>
                <a:latin typeface="Sarabun"/>
              </a:rPr>
              <a:t>• ผลลัพธ์หลัก: การเปลี่ยนแปลงคะแนน KOOS4 (ปวด, อาการ, กีฬา/นันทนาการ, คุณภาพชีวิต) จากเริ่มต้นถึง 2 ปี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B57"/>
                </a:solidFill>
                <a:latin typeface="Sarabun"/>
              </a:rPr>
              <a:t>• ผลลัพธ์รอง: คะแนน KOOS รายด้าน, ความแข็งแรงกล้ามเนื้อต้นขา และการทดสอบสมรรถภาพ ที่ 3 และ 12 เดือน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201168"/>
            <a:ext cx="566928" cy="566928"/>
          </a:xfrm>
          <a:prstGeom prst="ellipse">
            <a:avLst/>
          </a:prstGeom>
          <a:solidFill>
            <a:srgbClr val="14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566928" cy="56692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arabun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09728"/>
            <a:ext cx="10515600" cy="7772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arabun"/>
              </a:rPr>
              <a:t>อุปกรณ์และเครื่องมือที่ใช้ในงานวิจัย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6575"/>
                </a:solidFill>
                <a:latin typeface="Sarabun"/>
              </a:rPr>
              <a:t>Kise NJ, et al. BMJ 2016;354:i3740 (republished in Br J Sports Med)  |  OMEX trial NCT01002794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3611880" cy="237744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109728" cy="237744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44168"/>
            <a:ext cx="3246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B57"/>
                </a:solidFill>
                <a:latin typeface="Sarabun"/>
              </a:rPr>
              <a:t>MRI และเอกซเรย์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01368"/>
            <a:ext cx="3246120" cy="1737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B57"/>
                </a:solidFill>
                <a:latin typeface="Sarabun"/>
              </a:rPr>
              <a:t>ยืนยันการฉีกขาดของหมอนรองข้อเข่า และประเมินระดับข้อเข่าเสื่อมก่อนเข้าร่วม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234440"/>
            <a:ext cx="3611880" cy="237744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234440"/>
            <a:ext cx="109728" cy="2377440"/>
          </a:xfrm>
          <a:prstGeom prst="rect">
            <a:avLst/>
          </a:prstGeom>
          <a:solidFill>
            <a:srgbClr val="14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344168"/>
            <a:ext cx="3246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4A38B"/>
                </a:solidFill>
                <a:latin typeface="Sarabun"/>
              </a:rPr>
              <a:t>แบบสอบถาม KOOS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801368"/>
            <a:ext cx="3246120" cy="1737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B57"/>
                </a:solidFill>
                <a:latin typeface="Sarabun"/>
              </a:rPr>
              <a:t>Knee injury and Osteoarthritis Outcome Score วัดอาการปวด อาการ การใช้งาน และคุณภาพชีวิต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234440"/>
            <a:ext cx="3611880" cy="237744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234440"/>
            <a:ext cx="109728" cy="2377440"/>
          </a:xfrm>
          <a:prstGeom prst="rect">
            <a:avLst/>
          </a:prstGeom>
          <a:solidFill>
            <a:srgbClr val="E86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344168"/>
            <a:ext cx="3246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86A50"/>
                </a:solidFill>
                <a:latin typeface="Sarabun"/>
              </a:rPr>
              <a:t>Isokinetic dynamometer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01368"/>
            <a:ext cx="3246120" cy="1737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B57"/>
                </a:solidFill>
                <a:latin typeface="Sarabun"/>
              </a:rPr>
              <a:t>เครื่องวัดความแข็งแรงกล้ามเนื้อเหยียดเข่า (quadriceps) และงอเข่า (hamstrings)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840480"/>
            <a:ext cx="3611880" cy="237744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840480"/>
            <a:ext cx="109728" cy="237744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950208"/>
            <a:ext cx="3246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B57"/>
                </a:solidFill>
                <a:latin typeface="Sarabun"/>
              </a:rPr>
              <a:t>การทดสอบสมรรถภาพ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07408"/>
            <a:ext cx="3246120" cy="1737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B57"/>
                </a:solidFill>
                <a:latin typeface="Sarabun"/>
              </a:rPr>
              <a:t>กระโดดขาเดียวไกล (one-leg hop), กระโดดขาเดียว 6 เมตรจับเวลา (6-m timed hop), ย่อเข่าใน 30 วินาที (knee bend)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840480"/>
            <a:ext cx="3611880" cy="237744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840480"/>
            <a:ext cx="109728" cy="2377440"/>
          </a:xfrm>
          <a:prstGeom prst="rect">
            <a:avLst/>
          </a:prstGeom>
          <a:solidFill>
            <a:srgbClr val="14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950208"/>
            <a:ext cx="3246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4A38B"/>
                </a:solidFill>
                <a:latin typeface="Sarabun"/>
              </a:rPr>
              <a:t>อุปกรณ์การฝึก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407408"/>
            <a:ext cx="3246120" cy="1737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B57"/>
                </a:solidFill>
                <a:latin typeface="Sarabun"/>
              </a:rPr>
              <a:t>จักรยานอยู่กับที่, เครื่อง leg press / knee extension / hamstring curl, น้ำหนัก, กล่องสเต็ป, แผ่นทรงตัว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840480"/>
            <a:ext cx="3611880" cy="237744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3840480"/>
            <a:ext cx="109728" cy="2377440"/>
          </a:xfrm>
          <a:prstGeom prst="rect">
            <a:avLst/>
          </a:prstGeom>
          <a:solidFill>
            <a:srgbClr val="E86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950208"/>
            <a:ext cx="3246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86A50"/>
                </a:solidFill>
                <a:latin typeface="Sarabun"/>
              </a:rPr>
              <a:t>กลุ่มผ่าตัด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407408"/>
            <a:ext cx="3246120" cy="1737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B57"/>
                </a:solidFill>
                <a:latin typeface="Sarabun"/>
              </a:rPr>
              <a:t>การผ่าตัดส่องกล้องตัดหมอนรองข้อเข่าบางส่วน (arthroscopic partial meniscectomy) + คำแนะนำท่าบริหารที่บ้าน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201168"/>
            <a:ext cx="566928" cy="566928"/>
          </a:xfrm>
          <a:prstGeom prst="ellipse">
            <a:avLst/>
          </a:prstGeom>
          <a:solidFill>
            <a:srgbClr val="14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566928" cy="56692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arabun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09728"/>
            <a:ext cx="10515600" cy="7772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arabun"/>
              </a:rPr>
              <a:t>โปรแกรมการออกกำลังกาย 12 สัปดาห์ (กลุ่มออกกำลังกาย)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6575"/>
                </a:solidFill>
                <a:latin typeface="Sarabun"/>
              </a:rPr>
              <a:t>Kise NJ, et al. BMJ 2016;354:i3740 (republished in Br J Sports Med)  |  OMEX trial NCT01002794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11384280" cy="86868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155680" cy="7772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F3B57"/>
                </a:solidFill>
                <a:latin typeface="Sarabun"/>
              </a:rPr>
              <a:t>12 สัปดาห์  •  2–3 ครั้ง/สัปดาห์ (รวม 24–36 ครั้ง)  •  มีนักกายภาพบำบัดดูแล  •  เพิ่มความยากทีละระดับ (progressive)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94560"/>
            <a:ext cx="1828800" cy="411480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219456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194560"/>
            <a:ext cx="182880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arabun"/>
              </a:rPr>
              <a:t>1  อบอุ่นร่างกาย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532888"/>
            <a:ext cx="18288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arabun"/>
              </a:rPr>
              <a:t>~10 นาที</a:t>
            </a:r>
          </a:p>
        </p:txBody>
      </p:sp>
      <p:pic>
        <p:nvPicPr>
          <p:cNvPr id="13" name="Picture 12" descr="bi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" y="2971800"/>
            <a:ext cx="1783080" cy="1783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1480" y="4754880"/>
            <a:ext cx="1828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3B57"/>
                </a:solidFill>
                <a:latin typeface="Sarabun"/>
              </a:rPr>
              <a:t>ปั่นจักรยานอยู่กับที่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2194560"/>
            <a:ext cx="5897880" cy="411480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40280" y="2194560"/>
            <a:ext cx="5897880" cy="685800"/>
          </a:xfrm>
          <a:prstGeom prst="roundRect">
            <a:avLst>
              <a:gd name="adj" fmla="val 8000"/>
            </a:avLst>
          </a:prstGeom>
          <a:solidFill>
            <a:srgbClr val="14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2194560"/>
            <a:ext cx="589788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arabun"/>
              </a:rPr>
              <a:t>2  Neuromuscular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532888"/>
            <a:ext cx="58978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arabun"/>
              </a:rPr>
              <a:t>ทรงตัว + ควบคุมแนวเข่า</a:t>
            </a:r>
          </a:p>
        </p:txBody>
      </p:sp>
      <p:pic>
        <p:nvPicPr>
          <p:cNvPr id="19" name="Picture 18" descr="squ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2971800"/>
            <a:ext cx="1234440" cy="12344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40280" y="4206240"/>
            <a:ext cx="196596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3B57"/>
                </a:solidFill>
                <a:latin typeface="Sarabun"/>
              </a:rPr>
              <a:t>Squat</a:t>
            </a:r>
          </a:p>
        </p:txBody>
      </p:sp>
      <p:pic>
        <p:nvPicPr>
          <p:cNvPr id="21" name="Picture 20" descr="lu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971800"/>
            <a:ext cx="1234440" cy="12344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206240" y="4206240"/>
            <a:ext cx="196596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3B57"/>
                </a:solidFill>
                <a:latin typeface="Sarabun"/>
              </a:rPr>
              <a:t>Lunge</a:t>
            </a:r>
          </a:p>
        </p:txBody>
      </p:sp>
      <p:pic>
        <p:nvPicPr>
          <p:cNvPr id="23" name="Picture 22" descr="step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2971800"/>
            <a:ext cx="1234440" cy="12344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172200" y="4206240"/>
            <a:ext cx="196596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3B57"/>
                </a:solidFill>
                <a:latin typeface="Sarabun"/>
              </a:rPr>
              <a:t>Step-up</a:t>
            </a:r>
          </a:p>
        </p:txBody>
      </p:sp>
      <p:pic>
        <p:nvPicPr>
          <p:cNvPr id="25" name="Picture 24" descr="singlesqu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6040" y="4594860"/>
            <a:ext cx="1234440" cy="12344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240280" y="5829300"/>
            <a:ext cx="196596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3B57"/>
                </a:solidFill>
                <a:latin typeface="Sarabun"/>
              </a:rPr>
              <a:t>Single-leg squat</a:t>
            </a:r>
          </a:p>
        </p:txBody>
      </p:sp>
      <p:pic>
        <p:nvPicPr>
          <p:cNvPr id="27" name="Picture 26" descr="bal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594860"/>
            <a:ext cx="1234440" cy="12344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206240" y="5829300"/>
            <a:ext cx="196596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3B57"/>
                </a:solidFill>
                <a:latin typeface="Sarabun"/>
              </a:rPr>
              <a:t>ยืนขาเดียวบนแผ่นทรงตัว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2194560"/>
            <a:ext cx="3520440" cy="411480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38160" y="2194560"/>
            <a:ext cx="3520440" cy="685800"/>
          </a:xfrm>
          <a:prstGeom prst="roundRect">
            <a:avLst>
              <a:gd name="adj" fmla="val 8000"/>
            </a:avLst>
          </a:prstGeom>
          <a:solidFill>
            <a:srgbClr val="E86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2194560"/>
            <a:ext cx="352044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arabun"/>
              </a:rPr>
              <a:t>3  Strength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2532888"/>
            <a:ext cx="352044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arabun"/>
              </a:rPr>
              <a:t>เพิ่มน้ำหนักทีละขั้น</a:t>
            </a:r>
          </a:p>
        </p:txBody>
      </p:sp>
      <p:pic>
        <p:nvPicPr>
          <p:cNvPr id="33" name="Picture 32" descr="legpres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1020" y="2971800"/>
            <a:ext cx="1127760" cy="11277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138160" y="4099560"/>
            <a:ext cx="11734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3B57"/>
                </a:solidFill>
                <a:latin typeface="Sarabun"/>
              </a:rPr>
              <a:t>Leg press</a:t>
            </a:r>
          </a:p>
        </p:txBody>
      </p:sp>
      <p:pic>
        <p:nvPicPr>
          <p:cNvPr id="35" name="Picture 34" descr="kneeex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4500" y="2971800"/>
            <a:ext cx="1127760" cy="11277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311640" y="4099560"/>
            <a:ext cx="11734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3B57"/>
                </a:solidFill>
                <a:latin typeface="Sarabun"/>
              </a:rPr>
              <a:t>Knee extension</a:t>
            </a:r>
          </a:p>
        </p:txBody>
      </p:sp>
      <p:pic>
        <p:nvPicPr>
          <p:cNvPr id="37" name="Picture 36" descr="hamcur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07980" y="2971800"/>
            <a:ext cx="1127760" cy="112776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485120" y="4099560"/>
            <a:ext cx="11734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3B57"/>
                </a:solidFill>
                <a:latin typeface="Sarabun"/>
              </a:rPr>
              <a:t>Hamstring curl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12848" y="2194560"/>
            <a:ext cx="54864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10728" y="2194560"/>
            <a:ext cx="54864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20" y="4572000"/>
            <a:ext cx="3246120" cy="1645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E86A50"/>
                </a:solidFill>
                <a:latin typeface="Sarabun"/>
              </a:rPr>
              <a:t>2–3 เซต/ท่า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F3B57"/>
                </a:solidFill>
                <a:latin typeface="Sarabun"/>
              </a:rPr>
              <a:t>ทำซ้ำประมาณ 8–15 ครั้ง/เซต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F3B57"/>
                </a:solidFill>
                <a:latin typeface="Sarabun"/>
              </a:rPr>
              <a:t>เพิ่มน้ำหนักเมื่อทำได้ครบอย่างถูกต้อง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201168"/>
            <a:ext cx="566928" cy="566928"/>
          </a:xfrm>
          <a:prstGeom prst="ellipse">
            <a:avLst/>
          </a:prstGeom>
          <a:solidFill>
            <a:srgbClr val="14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566928" cy="56692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arabun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09728"/>
            <a:ext cx="10515600" cy="7772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arabun"/>
              </a:rPr>
              <a:t>ผลการวิจัย และอภิปรายผล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6575"/>
                </a:solidFill>
                <a:latin typeface="Sarabun"/>
              </a:rPr>
              <a:t>Kise NJ, et al. BMJ 2016;354:i3740 (republished in Br J Sports Med)  |  OMEX trial NCT01002794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1874519" cy="2788920"/>
          </a:xfrm>
          <a:prstGeom prst="roundRect">
            <a:avLst>
              <a:gd name="adj" fmla="val 8000"/>
            </a:avLst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1874519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Sarabun"/>
              </a:rPr>
              <a:t>0.9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240280"/>
            <a:ext cx="1737360" cy="1691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arabun"/>
              </a:rPr>
              <a:t>ความต่าง KOOS4 ที่ 2 ปี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arabun"/>
              </a:rPr>
              <a:t>95% CI −4.3 ถึง 6.1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arabun"/>
              </a:rPr>
              <a:t>P = 0.72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arabun"/>
              </a:rPr>
              <a:t>ไม่แตกต่างกันทางคลินิก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1188720"/>
            <a:ext cx="1874519" cy="2788920"/>
          </a:xfrm>
          <a:prstGeom prst="roundRect">
            <a:avLst>
              <a:gd name="adj" fmla="val 8000"/>
            </a:avLst>
          </a:prstGeom>
          <a:solidFill>
            <a:srgbClr val="14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1280160"/>
            <a:ext cx="1874519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Sarabun"/>
              </a:rPr>
              <a:t>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2" y="2240280"/>
            <a:ext cx="1737360" cy="1691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arabun"/>
              </a:rPr>
              <a:t>ความแข็งแรงกล้ามเนื้อต้นขา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arabun"/>
              </a:rPr>
              <a:t>กลุ่มออกกำลังกายดีกว่า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arabun"/>
              </a:rPr>
              <a:t>ที่ 3 และ 12 เดือน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188720"/>
            <a:ext cx="1874519" cy="2788920"/>
          </a:xfrm>
          <a:prstGeom prst="roundRect">
            <a:avLst>
              <a:gd name="adj" fmla="val 8000"/>
            </a:avLst>
          </a:prstGeom>
          <a:solidFill>
            <a:srgbClr val="E86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280160"/>
            <a:ext cx="1874519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Sarabun"/>
              </a:rPr>
              <a:t>19%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240280"/>
            <a:ext cx="1737360" cy="1691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arabun"/>
              </a:rPr>
              <a:t>ของกลุ่มออกกำลังกาย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arabun"/>
              </a:rPr>
              <a:t>(13 จาก 70 คน)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arabun"/>
              </a:rPr>
              <a:t>เปลี่ยนไปผ่าตัดภายใน 2 ปี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114800"/>
            <a:ext cx="5897880" cy="219456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114800"/>
            <a:ext cx="109728" cy="2194560"/>
          </a:xfrm>
          <a:prstGeom prst="rect">
            <a:avLst/>
          </a:prstGeom>
          <a:solidFill>
            <a:srgbClr val="14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24528"/>
            <a:ext cx="5532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4A38B"/>
                </a:solidFill>
                <a:latin typeface="Sarabun"/>
              </a:rPr>
              <a:t>ผลการวิจัย (สรุป)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81728"/>
            <a:ext cx="5532120" cy="1554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3B57"/>
                </a:solidFill>
                <a:latin typeface="Sarabun"/>
              </a:rPr>
              <a:t>• ทั้ง 2 กลุ่มดีขึ้นใกล้เคียงกันที่ 2 ปี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3B57"/>
                </a:solidFill>
                <a:latin typeface="Sarabun"/>
              </a:rPr>
              <a:t>• กลุ่มออกกำลังกายทำ 6-m timed hop ได้ดีกว่าที่ 3 เดือน (P = 0.02) และ 12 เดือน (P = 0.04)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3B57"/>
                </a:solidFill>
                <a:latin typeface="Sarabun"/>
              </a:rPr>
              <a:t>• ไม่พบเหตุการณ์ไม่พึงประสงค์ร้ายแรงในกลุ่มออกกำลังกาย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1188720"/>
            <a:ext cx="5303520" cy="512064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1188720"/>
            <a:ext cx="109728" cy="512064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1298448"/>
            <a:ext cx="4937759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B57"/>
                </a:solidFill>
                <a:latin typeface="Sarabun"/>
              </a:rPr>
              <a:t>อภิปรายผล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755648"/>
            <a:ext cx="4937759" cy="448055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B57"/>
                </a:solidFill>
                <a:latin typeface="Sarabun"/>
              </a:rPr>
              <a:t>• การออกกำลังกายแบบมีผู้ดูแลให้ผลต่ออาการปวดและการใช้งานไม่ด้อยกว่าการผ่าตัด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B57"/>
                </a:solidFill>
                <a:latin typeface="Sarabun"/>
              </a:rPr>
              <a:t>• ได้ประโยชน์เพิ่มเรื่องความแข็งแรงกล้ามเนื้อต้นขา ซึ่งเป็นปัจจัยป้องกันข้อเข่าเสื่อม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B57"/>
                </a:solidFill>
                <a:latin typeface="Sarabun"/>
              </a:rPr>
              <a:t>• หลีกเลี่ยงความเสี่ยงและค่าใช้จ่ายของการผ่าตัด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B57"/>
                </a:solidFill>
                <a:latin typeface="Sarabun"/>
              </a:rPr>
              <a:t>• ข้อจำกัด: ปกปิดกลุ่มการรักษาจากผู้ป่วยไม่ได้, มีผู้เปลี่ยนกลุ่มไปผ่าตัด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E86A50"/>
                </a:solidFill>
                <a:latin typeface="Sarabun"/>
              </a:rPr>
              <a:t>สรุป: ควรพิจารณาการออกกำลังกายภายใต้การดูแลเป็นทางเลือกแรก ก่อนผ่าตัด ในผู้ป่วยวัยกลางคนที่หมอนรองฉีกขาดแบบเสื่อมและไม่มีข้อเข่าเสื่อมชัดเจน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